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313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5" r:id="rId11"/>
    <p:sldId id="266" r:id="rId12"/>
    <p:sldId id="267" r:id="rId13"/>
    <p:sldId id="268" r:id="rId14"/>
    <p:sldId id="274" r:id="rId15"/>
    <p:sldId id="275" r:id="rId16"/>
    <p:sldId id="276" r:id="rId17"/>
    <p:sldId id="277" r:id="rId18"/>
    <p:sldId id="270" r:id="rId19"/>
    <p:sldId id="271" r:id="rId20"/>
    <p:sldId id="272" r:id="rId21"/>
  </p:sldIdLst>
  <p:sldSz cx="18288000" cy="10287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Public Sans Bold" panose="020B0604020202020204" charset="-93"/>
      <p:regular r:id="rId27"/>
    </p:embeddedFont>
    <p:embeddedFont>
      <p:font typeface="Calibri Light" panose="020F0302020204030204" pitchFamily="34" charset="0"/>
      <p:regular r:id="rId28"/>
      <p:italic r:id="rId29"/>
    </p:embeddedFont>
    <p:embeddedFont>
      <p:font typeface="Public Sans" panose="020B0604020202020204" charset="-9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19ACB-0BC8-4F6A-B4E3-BA15959729DE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32CF7-A2E5-4083-8D03-B069024CB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33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32CF7-A2E5-4083-8D03-B069024CB4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271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06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46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96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39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457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183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5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427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51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32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35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4" r:id="rId1"/>
    <p:sldLayoutId id="2147484315" r:id="rId2"/>
    <p:sldLayoutId id="2147484316" r:id="rId3"/>
    <p:sldLayoutId id="2147484317" r:id="rId4"/>
    <p:sldLayoutId id="2147484318" r:id="rId5"/>
    <p:sldLayoutId id="2147484319" r:id="rId6"/>
    <p:sldLayoutId id="2147484320" r:id="rId7"/>
    <p:sldLayoutId id="2147484321" r:id="rId8"/>
    <p:sldLayoutId id="2147484322" r:id="rId9"/>
    <p:sldLayoutId id="2147484323" r:id="rId10"/>
    <p:sldLayoutId id="2147484324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90793" y="190500"/>
            <a:ext cx="11673007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12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ĐẠI HỌC TRÀ VINH</a:t>
            </a:r>
          </a:p>
          <a:p>
            <a:pPr algn="ctr">
              <a:lnSpc>
                <a:spcPts val="4200"/>
              </a:lnSpc>
            </a:pPr>
            <a:r>
              <a:rPr lang="en-US" sz="3000" b="1" spc="12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TRƯỜNG </a:t>
            </a:r>
            <a:r>
              <a:rPr lang="en-US" sz="3000" b="1" spc="12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KỸ THUẬT VÀ CÔNG NGHỆ</a:t>
            </a:r>
          </a:p>
          <a:p>
            <a:pPr algn="ctr">
              <a:lnSpc>
                <a:spcPts val="4200"/>
              </a:lnSpc>
            </a:pPr>
            <a:endParaRPr lang="en-US" sz="3000" b="1" spc="12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909878" y="2972669"/>
            <a:ext cx="6967922" cy="492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120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BÁO CÁO KHÓA LUẬN TỐT NGHIỆP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220021" y="4132064"/>
            <a:ext cx="10304177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120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Đề</a:t>
            </a:r>
            <a:r>
              <a:rPr lang="en-US" sz="3000" b="1" spc="120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000" b="1" spc="120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tài</a:t>
            </a:r>
            <a:endParaRPr lang="en-US" sz="3000" b="1" spc="120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 spc="17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XÂY </a:t>
            </a:r>
            <a:r>
              <a:rPr lang="en-US" sz="4499" b="1" spc="17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DỰNG </a:t>
            </a:r>
            <a:r>
              <a:rPr lang="en-US" sz="4499" b="1" spc="17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HỆ </a:t>
            </a:r>
            <a:r>
              <a:rPr lang="en-US" sz="4499" b="1" spc="17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THỐNG QUẢN </a:t>
            </a:r>
            <a:r>
              <a:rPr lang="en-US" sz="4499" b="1" spc="17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LÝ ĐÀO TẠO </a:t>
            </a:r>
            <a:r>
              <a:rPr lang="en-US" sz="4499" b="1" spc="17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CHO </a:t>
            </a:r>
            <a:r>
              <a:rPr lang="en-US" sz="4499" b="1" spc="17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TRUNG TÂM LÁI XE</a:t>
            </a:r>
            <a:endParaRPr lang="en-US" sz="4499" b="1" spc="17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52600" y="7482034"/>
            <a:ext cx="5387164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 spc="143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Giảng</a:t>
            </a:r>
            <a:r>
              <a:rPr lang="en-US" sz="3599" b="1" spc="143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599" b="1" spc="143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viên</a:t>
            </a:r>
            <a:r>
              <a:rPr lang="en-US" sz="3599" b="1" spc="143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599" b="1" spc="143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hướng</a:t>
            </a:r>
            <a:r>
              <a:rPr lang="en-US" sz="3599" b="1" spc="143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599" b="1" spc="143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dẫn</a:t>
            </a:r>
            <a:r>
              <a:rPr lang="en-US" sz="3599" b="1" spc="143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: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 spc="143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ThS</a:t>
            </a:r>
            <a:r>
              <a:rPr lang="en-US" sz="3599" b="1" spc="143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. </a:t>
            </a:r>
            <a:r>
              <a:rPr lang="en-US" sz="3599" b="1" spc="143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Lê Phong Dũ</a:t>
            </a:r>
            <a:endParaRPr lang="en-US" sz="3599" b="1" spc="143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591800" y="7482034"/>
            <a:ext cx="7046284" cy="1179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spc="131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Sinh </a:t>
            </a:r>
            <a:r>
              <a:rPr lang="en-US" sz="3299" b="1" spc="131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viên</a:t>
            </a:r>
            <a:r>
              <a:rPr lang="en-US" sz="3299" b="1" spc="131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299" b="1" spc="131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thực</a:t>
            </a:r>
            <a:r>
              <a:rPr lang="en-US" sz="3299" b="1" spc="131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299" b="1" spc="131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hiện</a:t>
            </a:r>
            <a:r>
              <a:rPr lang="en-US" sz="3299" b="1" spc="131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: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spc="131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110122163 – Châu Thanh Thiện</a:t>
            </a:r>
            <a:endParaRPr lang="en-US" sz="3299" b="1" spc="131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248400" y="9514901"/>
            <a:ext cx="594458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120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Vĩnh</a:t>
            </a:r>
            <a:r>
              <a:rPr lang="en-US" sz="3000" b="1" spc="120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Long, </a:t>
            </a:r>
            <a:r>
              <a:rPr lang="en-US" sz="3000" b="1" spc="120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tháng</a:t>
            </a:r>
            <a:r>
              <a:rPr lang="en-US" sz="3000" b="1" spc="120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7 </a:t>
            </a:r>
            <a:r>
              <a:rPr lang="en-US" sz="3000" b="1" spc="12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năm</a:t>
            </a:r>
            <a:r>
              <a:rPr lang="en-US" sz="3000" b="1" spc="12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000" b="1" spc="12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2026</a:t>
            </a:r>
            <a:endParaRPr lang="en-US" sz="3000" b="1" spc="120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pic>
        <p:nvPicPr>
          <p:cNvPr id="1026" name="Picture 2" descr="TVU-RGB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1376380"/>
            <a:ext cx="1406953" cy="1404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427470" y="252412"/>
            <a:ext cx="9433060" cy="85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b="1" spc="19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NỘI DUNG BÁO CÁO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48000" y="2114046"/>
            <a:ext cx="4950512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spc="15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1.TỔNG QUAN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48000" y="3616147"/>
            <a:ext cx="9328507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spc="15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 THỰC HIỆN HÓA NGHIÊN CỨU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48000" y="5312681"/>
            <a:ext cx="6984007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spc="15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KẾT QUẢ NGHIÊN CỨU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48000" y="6902020"/>
            <a:ext cx="10036436" cy="656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4.KẾT LUẬN VÀ HƯỚNG PHÁT TRIỂN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971800" y="2705100"/>
            <a:ext cx="5685121" cy="3590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 b="1" spc="39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1.TỔNG </a:t>
            </a:r>
            <a:r>
              <a:rPr lang="en-US" sz="9999" b="1" spc="39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QUAN</a:t>
            </a:r>
          </a:p>
        </p:txBody>
      </p:sp>
      <p:pic>
        <p:nvPicPr>
          <p:cNvPr id="1026" name="Picture 2" descr="Hình ảnh Xe Suv PNG, Vector, PSD, và biểu tượng để tải về miễn phí | png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6035" y="571500"/>
            <a:ext cx="8640479" cy="8640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9138" y="368666"/>
            <a:ext cx="4945862" cy="820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 spc="19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1.TỔNG QUAN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34849" y="2451776"/>
            <a:ext cx="15357751" cy="5478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 indent="-387288">
              <a:lnSpc>
                <a:spcPct val="150000"/>
              </a:lnSpc>
              <a:spcBef>
                <a:spcPts val="1200"/>
              </a:spcBef>
              <a:buFont typeface="Arial"/>
              <a:buChar char="•"/>
            </a:pPr>
            <a:r>
              <a:rPr lang="en-US" sz="3200" smtClean="0">
                <a:solidFill>
                  <a:srgbClr val="002060"/>
                </a:solidFill>
                <a:latin typeface="Public Sans" panose="020B0604020202020204" charset="-93"/>
              </a:rPr>
              <a:t>V</a:t>
            </a:r>
            <a:r>
              <a:rPr lang="vi-VN" sz="3200" smtClean="0">
                <a:solidFill>
                  <a:srgbClr val="002060"/>
                </a:solidFill>
                <a:latin typeface="Public Sans" panose="020B0604020202020204" charset="-93"/>
              </a:rPr>
              <a:t>ới sự phát triển của kinh tế - xã hội, nhu cầu sở hữu ô tô và học lái xe ngày càng tăng cao. Điều này dẫn đến số lượng học viên đăng ký tại các trung tâm đào tạo lái xe ngày càng lớn</a:t>
            </a:r>
            <a:r>
              <a:rPr lang="en-US" sz="3200" spc="143" smtClean="0">
                <a:solidFill>
                  <a:srgbClr val="002060"/>
                </a:solidFill>
                <a:latin typeface="Public Sans" panose="020B0604020202020204" charset="-93"/>
                <a:sym typeface="Public Sans"/>
              </a:rPr>
              <a:t>.</a:t>
            </a:r>
            <a:endParaRPr lang="en-US" sz="3200" spc="143" smtClean="0">
              <a:solidFill>
                <a:srgbClr val="002060"/>
              </a:solidFill>
              <a:latin typeface="Public Sans" panose="020B0604020202020204" charset="-93"/>
              <a:ea typeface="Public Sans"/>
              <a:cs typeface="Public Sans"/>
              <a:sym typeface="Public Sans"/>
            </a:endParaRPr>
          </a:p>
          <a:p>
            <a:pPr lvl="1" indent="-387288">
              <a:lnSpc>
                <a:spcPct val="150000"/>
              </a:lnSpc>
              <a:spcBef>
                <a:spcPts val="1200"/>
              </a:spcBef>
              <a:buFont typeface="Arial"/>
              <a:buChar char="•"/>
            </a:pPr>
            <a:r>
              <a:rPr lang="en-US" sz="3200" smtClean="0">
                <a:solidFill>
                  <a:srgbClr val="002060"/>
                </a:solidFill>
                <a:latin typeface="Public Sans" panose="020B0604020202020204" charset="-93"/>
              </a:rPr>
              <a:t>Tuy nhiên, </a:t>
            </a:r>
            <a:r>
              <a:rPr lang="vi-VN" sz="3200" smtClean="0">
                <a:solidFill>
                  <a:srgbClr val="002060"/>
                </a:solidFill>
                <a:latin typeface="Public Sans" panose="020B0604020202020204" charset="-93"/>
              </a:rPr>
              <a:t>nhiều trung tâm vẫn còn quản lý đào tạo theo phương pháp thủ công </a:t>
            </a:r>
            <a:r>
              <a:rPr lang="en-US" sz="3200" smtClean="0">
                <a:solidFill>
                  <a:srgbClr val="002060"/>
                </a:solidFill>
                <a:latin typeface="Public Sans" panose="020B0604020202020204" charset="-93"/>
              </a:rPr>
              <a:t>và </a:t>
            </a:r>
            <a:r>
              <a:rPr lang="vi-VN" sz="3200" smtClean="0">
                <a:solidFill>
                  <a:srgbClr val="002060"/>
                </a:solidFill>
                <a:latin typeface="Public Sans" panose="020B0604020202020204" charset="-93"/>
              </a:rPr>
              <a:t>rời rạc, gây khó khăn trong quá trình quản lý</a:t>
            </a:r>
            <a:r>
              <a:rPr lang="en-US" sz="3200" spc="143" smtClean="0">
                <a:solidFill>
                  <a:srgbClr val="002060"/>
                </a:solidFill>
                <a:latin typeface="Public Sans" panose="020B0604020202020204" charset="-93"/>
                <a:ea typeface="Public Sans"/>
                <a:cs typeface="Public Sans"/>
                <a:sym typeface="Public Sans"/>
              </a:rPr>
              <a:t>.</a:t>
            </a:r>
          </a:p>
          <a:p>
            <a:pPr lvl="1" indent="-387288">
              <a:lnSpc>
                <a:spcPct val="150000"/>
              </a:lnSpc>
              <a:spcBef>
                <a:spcPts val="1200"/>
              </a:spcBef>
              <a:buFont typeface="Arial"/>
              <a:buChar char="•"/>
            </a:pPr>
            <a:r>
              <a:rPr lang="vi-VN" sz="3200" smtClean="0">
                <a:solidFill>
                  <a:srgbClr val="002060"/>
                </a:solidFill>
                <a:latin typeface="Public Sans" panose="020B0604020202020204" charset="-93"/>
              </a:rPr>
              <a:t>Bên cạnh đó, các quy định mới yêu cầu việc theo dõi thời gian học và quãng đường thực hành phải </a:t>
            </a:r>
            <a:r>
              <a:rPr lang="en-US" sz="3200" smtClean="0">
                <a:solidFill>
                  <a:srgbClr val="002060"/>
                </a:solidFill>
                <a:latin typeface="Public Sans" panose="020B0604020202020204" charset="-93"/>
              </a:rPr>
              <a:t>được quản lý </a:t>
            </a:r>
            <a:r>
              <a:rPr lang="vi-VN" sz="3200" smtClean="0">
                <a:solidFill>
                  <a:srgbClr val="002060"/>
                </a:solidFill>
                <a:latin typeface="Public Sans" panose="020B0604020202020204" charset="-93"/>
              </a:rPr>
              <a:t>ch</a:t>
            </a:r>
            <a:r>
              <a:rPr lang="en-US" sz="3200" smtClean="0">
                <a:solidFill>
                  <a:srgbClr val="002060"/>
                </a:solidFill>
                <a:latin typeface="Public Sans" panose="020B0604020202020204" charset="-93"/>
              </a:rPr>
              <a:t>ặt chẽ</a:t>
            </a:r>
            <a:r>
              <a:rPr lang="vi-VN" sz="3200" smtClean="0">
                <a:solidFill>
                  <a:srgbClr val="002060"/>
                </a:solidFill>
                <a:latin typeface="Public Sans" panose="020B0604020202020204" charset="-93"/>
              </a:rPr>
              <a:t> và minh bạch.</a:t>
            </a:r>
            <a:endParaRPr lang="en-US" sz="3200" spc="143">
              <a:solidFill>
                <a:srgbClr val="002060"/>
              </a:solidFill>
              <a:latin typeface="Public Sans" panose="020B0604020202020204" charset="-93"/>
              <a:ea typeface="Public Sans"/>
              <a:cs typeface="Public Sans"/>
              <a:sym typeface="Public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43461" y="1548595"/>
            <a:ext cx="4576339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spc="13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1.1 Lý do </a:t>
            </a:r>
            <a:r>
              <a:rPr lang="en-US" sz="3499" b="1" spc="13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chọn</a:t>
            </a:r>
            <a:r>
              <a:rPr lang="en-US" sz="3499" b="1" spc="13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499" b="1" spc="13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đề</a:t>
            </a:r>
            <a:r>
              <a:rPr lang="en-US" sz="3499" b="1" spc="13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499" b="1" spc="13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tài</a:t>
            </a:r>
            <a:endParaRPr lang="en-US" sz="3499" b="1" spc="13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2541" y="3854250"/>
            <a:ext cx="5064565" cy="3212875"/>
            <a:chOff x="0" y="0"/>
            <a:chExt cx="1750479" cy="11104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0479" cy="1110474"/>
            </a:xfrm>
            <a:custGeom>
              <a:avLst/>
              <a:gdLst/>
              <a:ahLst/>
              <a:cxnLst/>
              <a:rect l="l" t="t" r="r" b="b"/>
              <a:pathLst>
                <a:path w="1750479" h="1110474">
                  <a:moveTo>
                    <a:pt x="105476" y="0"/>
                  </a:moveTo>
                  <a:lnTo>
                    <a:pt x="1645002" y="0"/>
                  </a:lnTo>
                  <a:cubicBezTo>
                    <a:pt x="1703256" y="0"/>
                    <a:pt x="1750479" y="47223"/>
                    <a:pt x="1750479" y="105476"/>
                  </a:cubicBezTo>
                  <a:lnTo>
                    <a:pt x="1750479" y="1004998"/>
                  </a:lnTo>
                  <a:cubicBezTo>
                    <a:pt x="1750479" y="1063251"/>
                    <a:pt x="1703256" y="1110474"/>
                    <a:pt x="1645002" y="1110474"/>
                  </a:cubicBezTo>
                  <a:lnTo>
                    <a:pt x="105476" y="1110474"/>
                  </a:lnTo>
                  <a:cubicBezTo>
                    <a:pt x="47223" y="1110474"/>
                    <a:pt x="0" y="1063251"/>
                    <a:pt x="0" y="1004998"/>
                  </a:cubicBezTo>
                  <a:lnTo>
                    <a:pt x="0" y="105476"/>
                  </a:lnTo>
                  <a:cubicBezTo>
                    <a:pt x="0" y="47223"/>
                    <a:pt x="47223" y="0"/>
                    <a:pt x="105476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69138" y="631825"/>
            <a:ext cx="5326862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 spc="19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1.TỔNG QUAN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7216" y="4160707"/>
            <a:ext cx="4699890" cy="2513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spc="139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Xây dựng </a:t>
            </a:r>
            <a:r>
              <a:rPr lang="en-US" sz="3499" spc="139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hệ thống Quản lý đào tạo toàn diện cho trung tâm lái xe</a:t>
            </a:r>
            <a:endParaRPr lang="en-US" sz="3499" spc="139">
              <a:solidFill>
                <a:srgbClr val="32478C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" name="AutoShape 6"/>
          <p:cNvSpPr/>
          <p:nvPr/>
        </p:nvSpPr>
        <p:spPr>
          <a:xfrm flipV="1">
            <a:off x="6465003" y="2953344"/>
            <a:ext cx="2784102" cy="246411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9909551" y="254497"/>
            <a:ext cx="6296565" cy="3025590"/>
            <a:chOff x="0" y="0"/>
            <a:chExt cx="2739179" cy="13162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39179" cy="1316215"/>
            </a:xfrm>
            <a:custGeom>
              <a:avLst/>
              <a:gdLst/>
              <a:ahLst/>
              <a:cxnLst/>
              <a:rect l="l" t="t" r="r" b="b"/>
              <a:pathLst>
                <a:path w="2739179" h="1316215">
                  <a:moveTo>
                    <a:pt x="84839" y="0"/>
                  </a:moveTo>
                  <a:lnTo>
                    <a:pt x="2654341" y="0"/>
                  </a:lnTo>
                  <a:cubicBezTo>
                    <a:pt x="2701196" y="0"/>
                    <a:pt x="2739179" y="37984"/>
                    <a:pt x="2739179" y="84839"/>
                  </a:cubicBezTo>
                  <a:lnTo>
                    <a:pt x="2739179" y="1231376"/>
                  </a:lnTo>
                  <a:cubicBezTo>
                    <a:pt x="2739179" y="1253877"/>
                    <a:pt x="2730241" y="1275456"/>
                    <a:pt x="2714331" y="1291366"/>
                  </a:cubicBezTo>
                  <a:cubicBezTo>
                    <a:pt x="2698420" y="1307277"/>
                    <a:pt x="2676841" y="1316215"/>
                    <a:pt x="2654341" y="1316215"/>
                  </a:cubicBezTo>
                  <a:lnTo>
                    <a:pt x="84839" y="1316215"/>
                  </a:lnTo>
                  <a:cubicBezTo>
                    <a:pt x="62338" y="1316215"/>
                    <a:pt x="40759" y="1307277"/>
                    <a:pt x="24849" y="1291366"/>
                  </a:cubicBezTo>
                  <a:cubicBezTo>
                    <a:pt x="8938" y="1275456"/>
                    <a:pt x="0" y="1253877"/>
                    <a:pt x="0" y="1231376"/>
                  </a:cubicBezTo>
                  <a:lnTo>
                    <a:pt x="0" y="84839"/>
                  </a:lnTo>
                  <a:cubicBezTo>
                    <a:pt x="0" y="62338"/>
                    <a:pt x="8938" y="40759"/>
                    <a:pt x="24849" y="24849"/>
                  </a:cubicBezTo>
                  <a:cubicBezTo>
                    <a:pt x="40759" y="8938"/>
                    <a:pt x="62338" y="0"/>
                    <a:pt x="8483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316250" y="497292"/>
            <a:ext cx="5483167" cy="2513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spc="139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Số hóa toàn bộ quy trình nghiệp vụ từ tiếp nhận hồ sơ, thu học phí, quản lý lịch học, thi, cấp bằng</a:t>
            </a:r>
            <a:endParaRPr lang="en-US" sz="3499" spc="139">
              <a:solidFill>
                <a:srgbClr val="32478C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" name="AutoShape 10"/>
          <p:cNvSpPr/>
          <p:nvPr/>
        </p:nvSpPr>
        <p:spPr>
          <a:xfrm flipV="1">
            <a:off x="6464994" y="5417462"/>
            <a:ext cx="2993681" cy="1816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9909551" y="3628898"/>
            <a:ext cx="6296565" cy="3025590"/>
            <a:chOff x="0" y="0"/>
            <a:chExt cx="2739179" cy="13162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39179" cy="1316215"/>
            </a:xfrm>
            <a:custGeom>
              <a:avLst/>
              <a:gdLst/>
              <a:ahLst/>
              <a:cxnLst/>
              <a:rect l="l" t="t" r="r" b="b"/>
              <a:pathLst>
                <a:path w="2739179" h="1316215">
                  <a:moveTo>
                    <a:pt x="84839" y="0"/>
                  </a:moveTo>
                  <a:lnTo>
                    <a:pt x="2654341" y="0"/>
                  </a:lnTo>
                  <a:cubicBezTo>
                    <a:pt x="2701196" y="0"/>
                    <a:pt x="2739179" y="37984"/>
                    <a:pt x="2739179" y="84839"/>
                  </a:cubicBezTo>
                  <a:lnTo>
                    <a:pt x="2739179" y="1231376"/>
                  </a:lnTo>
                  <a:cubicBezTo>
                    <a:pt x="2739179" y="1253877"/>
                    <a:pt x="2730241" y="1275456"/>
                    <a:pt x="2714331" y="1291366"/>
                  </a:cubicBezTo>
                  <a:cubicBezTo>
                    <a:pt x="2698420" y="1307277"/>
                    <a:pt x="2676841" y="1316215"/>
                    <a:pt x="2654341" y="1316215"/>
                  </a:cubicBezTo>
                  <a:lnTo>
                    <a:pt x="84839" y="1316215"/>
                  </a:lnTo>
                  <a:cubicBezTo>
                    <a:pt x="62338" y="1316215"/>
                    <a:pt x="40759" y="1307277"/>
                    <a:pt x="24849" y="1291366"/>
                  </a:cubicBezTo>
                  <a:cubicBezTo>
                    <a:pt x="8938" y="1275456"/>
                    <a:pt x="0" y="1253877"/>
                    <a:pt x="0" y="1231376"/>
                  </a:cubicBezTo>
                  <a:lnTo>
                    <a:pt x="0" y="84839"/>
                  </a:lnTo>
                  <a:cubicBezTo>
                    <a:pt x="0" y="62338"/>
                    <a:pt x="8938" y="40759"/>
                    <a:pt x="24849" y="24849"/>
                  </a:cubicBezTo>
                  <a:cubicBezTo>
                    <a:pt x="40759" y="8938"/>
                    <a:pt x="62338" y="0"/>
                    <a:pt x="8483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157855" y="3871693"/>
            <a:ext cx="5799956" cy="2513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spc="139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Phát triển giao diện chuyên biệt: Quản trị viên, Giảng viên, Học viên với phân quyền chặt chẻ</a:t>
            </a:r>
            <a:endParaRPr lang="en-US" sz="3499" spc="139" dirty="0">
              <a:solidFill>
                <a:srgbClr val="32478C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476933" y="5475540"/>
            <a:ext cx="2981742" cy="23741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9909551" y="7006913"/>
            <a:ext cx="6296565" cy="3025590"/>
            <a:chOff x="0" y="0"/>
            <a:chExt cx="2739179" cy="131621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39179" cy="1316215"/>
            </a:xfrm>
            <a:custGeom>
              <a:avLst/>
              <a:gdLst/>
              <a:ahLst/>
              <a:cxnLst/>
              <a:rect l="l" t="t" r="r" b="b"/>
              <a:pathLst>
                <a:path w="2739179" h="1316215">
                  <a:moveTo>
                    <a:pt x="84839" y="0"/>
                  </a:moveTo>
                  <a:lnTo>
                    <a:pt x="2654341" y="0"/>
                  </a:lnTo>
                  <a:cubicBezTo>
                    <a:pt x="2701196" y="0"/>
                    <a:pt x="2739179" y="37984"/>
                    <a:pt x="2739179" y="84839"/>
                  </a:cubicBezTo>
                  <a:lnTo>
                    <a:pt x="2739179" y="1231376"/>
                  </a:lnTo>
                  <a:cubicBezTo>
                    <a:pt x="2739179" y="1253877"/>
                    <a:pt x="2730241" y="1275456"/>
                    <a:pt x="2714331" y="1291366"/>
                  </a:cubicBezTo>
                  <a:cubicBezTo>
                    <a:pt x="2698420" y="1307277"/>
                    <a:pt x="2676841" y="1316215"/>
                    <a:pt x="2654341" y="1316215"/>
                  </a:cubicBezTo>
                  <a:lnTo>
                    <a:pt x="84839" y="1316215"/>
                  </a:lnTo>
                  <a:cubicBezTo>
                    <a:pt x="62338" y="1316215"/>
                    <a:pt x="40759" y="1307277"/>
                    <a:pt x="24849" y="1291366"/>
                  </a:cubicBezTo>
                  <a:cubicBezTo>
                    <a:pt x="8938" y="1275456"/>
                    <a:pt x="0" y="1253877"/>
                    <a:pt x="0" y="1231376"/>
                  </a:cubicBezTo>
                  <a:lnTo>
                    <a:pt x="0" y="84839"/>
                  </a:lnTo>
                  <a:cubicBezTo>
                    <a:pt x="0" y="62338"/>
                    <a:pt x="8938" y="40759"/>
                    <a:pt x="24849" y="24849"/>
                  </a:cubicBezTo>
                  <a:cubicBezTo>
                    <a:pt x="40759" y="8938"/>
                    <a:pt x="62338" y="0"/>
                    <a:pt x="8483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54527" y="7262953"/>
            <a:ext cx="5823673" cy="2513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spc="139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Đáp ứng nhu cầu </a:t>
            </a:r>
            <a:r>
              <a:rPr lang="en-US" sz="3499" spc="139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giám sát tiến độ học tập, quản lý xe, tự động hóa hệ thống thống kê báo cáo.</a:t>
            </a:r>
            <a:endParaRPr lang="en-US" sz="3499" spc="139">
              <a:solidFill>
                <a:srgbClr val="32478C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769138" y="631825"/>
            <a:ext cx="5555462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 spc="19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1.TỔNG QUAN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159" y="3450042"/>
            <a:ext cx="5035836" cy="39071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20" y="3172391"/>
            <a:ext cx="4659154" cy="4184766"/>
          </a:xfrm>
          <a:prstGeom prst="rect">
            <a:avLst/>
          </a:prstGeom>
        </p:spPr>
      </p:pic>
      <p:pic>
        <p:nvPicPr>
          <p:cNvPr id="2050" name="Picture 2" descr="MySQL Logo PNG Transparent &amp; SVG Vector - Freebie Suppl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0" y="3210491"/>
            <a:ext cx="426720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520199" y="1527175"/>
            <a:ext cx="6922232" cy="7032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 b="1" spc="399">
                <a:solidFill>
                  <a:srgbClr val="00206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 THỰC HIỆN HÓA NGHIÊN CỨU</a:t>
            </a:r>
          </a:p>
        </p:txBody>
      </p:sp>
      <p:pic>
        <p:nvPicPr>
          <p:cNvPr id="3074" name="Picture 2" descr="Ilustración Vectorial De Un Icono Suv Para El Transporte En Un Fondo Blanco  Como Objeto Aislado Vector PNG ,dibujos Transporte, Gráfico, Safari Imagen  de ilustración en Pngtree, Libres de Derecho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0" t="32000" r="15333" b="32667"/>
          <a:stretch/>
        </p:blipFill>
        <p:spPr bwMode="auto">
          <a:xfrm>
            <a:off x="8839200" y="2781300"/>
            <a:ext cx="8885208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90669" y="111124"/>
            <a:ext cx="11063131" cy="1739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 spc="19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 THỰC HIỆN HÓA NGHIÊN CỨU</a:t>
            </a:r>
          </a:p>
          <a:p>
            <a:pPr algn="l">
              <a:lnSpc>
                <a:spcPts val="6999"/>
              </a:lnSpc>
              <a:spcBef>
                <a:spcPct val="0"/>
              </a:spcBef>
            </a:pPr>
            <a:endParaRPr lang="en-US" sz="4999" b="1" spc="19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892161" y="1328291"/>
            <a:ext cx="61722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12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Website cho phép </a:t>
            </a:r>
            <a:r>
              <a:rPr lang="en-US" sz="3000" b="1" spc="12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Quản trị viên</a:t>
            </a:r>
            <a:endParaRPr lang="en-US" sz="3000" b="1" spc="12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759514" y="1328291"/>
            <a:ext cx="59794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12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Website cho phép </a:t>
            </a:r>
            <a:r>
              <a:rPr lang="en-US" sz="3000" b="1" spc="12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Giảng viên</a:t>
            </a:r>
            <a:endParaRPr lang="en-US" sz="3000" b="1" spc="12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pic>
        <p:nvPicPr>
          <p:cNvPr id="102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99" y="2171700"/>
            <a:ext cx="8124657" cy="678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2271164"/>
            <a:ext cx="7553945" cy="6682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90669" y="111124"/>
            <a:ext cx="11063131" cy="1739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 spc="19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 THỰC HIỆN HÓA NGHIÊN CỨU</a:t>
            </a:r>
          </a:p>
          <a:p>
            <a:pPr algn="l">
              <a:lnSpc>
                <a:spcPts val="6999"/>
              </a:lnSpc>
              <a:spcBef>
                <a:spcPct val="0"/>
              </a:spcBef>
            </a:pPr>
            <a:endParaRPr lang="en-US" sz="4999" b="1" spc="19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638800" y="1409700"/>
            <a:ext cx="61722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12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Website cho phép </a:t>
            </a:r>
            <a:r>
              <a:rPr lang="en-US" sz="3000" b="1" spc="12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Học viên</a:t>
            </a:r>
            <a:endParaRPr lang="en-US" sz="3000" b="1" spc="12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pic>
        <p:nvPicPr>
          <p:cNvPr id="2050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74" b="2277"/>
          <a:stretch>
            <a:fillRect/>
          </a:stretch>
        </p:blipFill>
        <p:spPr bwMode="auto">
          <a:xfrm>
            <a:off x="5257800" y="2171700"/>
            <a:ext cx="6934200" cy="7552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482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400582" y="2413000"/>
            <a:ext cx="8070559" cy="526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 b="1" spc="399">
                <a:solidFill>
                  <a:srgbClr val="00206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KẾT QUẢ NGHIÊN CỨU</a:t>
            </a:r>
          </a:p>
        </p:txBody>
      </p:sp>
      <p:pic>
        <p:nvPicPr>
          <p:cNvPr id="4098" name="Picture 2" descr="Hình minh họa ô tô đen trắng cho thiết kế ý tưởng | Vectơ Prem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1141" y="1409699"/>
            <a:ext cx="8131059" cy="8131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50240" y="379061"/>
            <a:ext cx="886003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20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KẾT QUẢ NGHIÊN CỨU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2128" y="1485900"/>
            <a:ext cx="7675777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3.1 Giao </a:t>
            </a:r>
            <a:r>
              <a:rPr lang="en-US" sz="3999" b="1" spc="159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diện</a:t>
            </a:r>
            <a:r>
              <a:rPr lang="en-US" sz="3999" b="1" spc="15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trang quảng bá</a:t>
            </a:r>
            <a:endParaRPr lang="en-US" sz="3999" b="1" spc="15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pic>
        <p:nvPicPr>
          <p:cNvPr id="5122" name="Picture 2" descr="screencap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" b="86299"/>
          <a:stretch>
            <a:fillRect/>
          </a:stretch>
        </p:blipFill>
        <p:spPr bwMode="auto">
          <a:xfrm>
            <a:off x="1066800" y="2476500"/>
            <a:ext cx="8491104" cy="306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 descr="screencapture-localhost-5174-khoa-hoc-2026-06-18-12_35_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3314700"/>
            <a:ext cx="7775785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5524500"/>
            <a:ext cx="8491104" cy="2535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50240" y="379061"/>
            <a:ext cx="886003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20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KẾT QUẢ NGHIÊN CỨU</a:t>
            </a:r>
          </a:p>
        </p:txBody>
      </p:sp>
      <p:pic>
        <p:nvPicPr>
          <p:cNvPr id="6146" name="Picture 2" descr="screencapture-localhost-5174-khoa-hoc-c1-2026-06-18-12_47_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04"/>
          <a:stretch>
            <a:fillRect/>
          </a:stretch>
        </p:blipFill>
        <p:spPr bwMode="auto">
          <a:xfrm>
            <a:off x="818435" y="2287600"/>
            <a:ext cx="8249365" cy="52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635" y="2628900"/>
            <a:ext cx="8267565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5"/>
          <p:cNvSpPr txBox="1"/>
          <p:nvPr/>
        </p:nvSpPr>
        <p:spPr>
          <a:xfrm>
            <a:off x="1222128" y="1409700"/>
            <a:ext cx="7675777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3.1 Giao </a:t>
            </a:r>
            <a:r>
              <a:rPr lang="en-US" sz="3999" b="1" spc="159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diện</a:t>
            </a:r>
            <a:r>
              <a:rPr lang="en-US" sz="3999" b="1" spc="15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trang quảng bá</a:t>
            </a:r>
            <a:endParaRPr lang="en-US" sz="3999" b="1" spc="15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50240" y="379061"/>
            <a:ext cx="886003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20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KẾT QUẢ NGHIÊN CỨU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69976" y="1409700"/>
            <a:ext cx="7112024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15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3.2 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Giao </a:t>
            </a:r>
            <a:r>
              <a:rPr lang="en-US" sz="3999" b="1" spc="159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diện</a:t>
            </a:r>
            <a:r>
              <a:rPr lang="en-US" sz="3999" b="1" spc="15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Quản trị viên</a:t>
            </a:r>
            <a:endParaRPr lang="en-US" sz="3999" b="1" spc="15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56785"/>
            <a:ext cx="8805335" cy="43345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720241"/>
            <a:ext cx="8876874" cy="21878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3314700"/>
            <a:ext cx="8243174" cy="434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50240" y="379061"/>
            <a:ext cx="886003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20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KẾT QUẢ NGHIÊN CỨU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69976" y="1409700"/>
            <a:ext cx="7112024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15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3.2 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Giao </a:t>
            </a:r>
            <a:r>
              <a:rPr lang="en-US" sz="3999" b="1" spc="159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diện</a:t>
            </a:r>
            <a:r>
              <a:rPr lang="en-US" sz="3999" b="1" spc="15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Quản trị viên</a:t>
            </a:r>
            <a:endParaRPr lang="en-US" sz="3999" b="1" spc="15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71700"/>
            <a:ext cx="8001000" cy="400822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1" y="2171700"/>
            <a:ext cx="8264628" cy="40082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6362700"/>
            <a:ext cx="8014353" cy="368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78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50240" y="379061"/>
            <a:ext cx="886003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20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KẾT QUẢ NGHIÊN CỨU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69976" y="1409700"/>
            <a:ext cx="7112024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15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3.2 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Giao </a:t>
            </a:r>
            <a:r>
              <a:rPr lang="en-US" sz="3999" b="1" spc="159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diện</a:t>
            </a:r>
            <a:r>
              <a:rPr lang="en-US" sz="3999" b="1" spc="15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Quản trị viên</a:t>
            </a:r>
            <a:endParaRPr lang="en-US" sz="3999" b="1" spc="15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399" y="2160643"/>
            <a:ext cx="8348033" cy="39170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41" y="2171700"/>
            <a:ext cx="7831760" cy="39060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383" y="6286500"/>
            <a:ext cx="7917257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246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50240" y="379061"/>
            <a:ext cx="886003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20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KẾT QUẢ NGHIÊN CỨU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69976" y="1409700"/>
            <a:ext cx="6426224" cy="656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15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3.3 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Giao </a:t>
            </a:r>
            <a:r>
              <a:rPr lang="en-US" sz="3999" b="1" spc="159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diện</a:t>
            </a:r>
            <a:r>
              <a:rPr lang="en-US" sz="3999" b="1" spc="15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Giảng viên</a:t>
            </a:r>
            <a:endParaRPr lang="en-US" sz="3999" b="1" spc="15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2127845"/>
            <a:ext cx="8305799" cy="43409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7531" y="2127845"/>
            <a:ext cx="8351222" cy="43409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1719" y="6743700"/>
            <a:ext cx="8389364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02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50240" y="379061"/>
            <a:ext cx="886003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20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KẾT QUẢ NGHIÊN CỨU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69976" y="1409700"/>
            <a:ext cx="5892824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15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3.3 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Giao </a:t>
            </a:r>
            <a:r>
              <a:rPr lang="en-US" sz="3999" b="1" spc="159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diện</a:t>
            </a:r>
            <a:r>
              <a:rPr lang="en-US" sz="3999" b="1" spc="15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Học viên</a:t>
            </a:r>
            <a:endParaRPr lang="en-US" sz="3999" b="1" spc="15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166606"/>
            <a:ext cx="7924801" cy="41960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599" y="2190851"/>
            <a:ext cx="7987757" cy="41718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100" y="6525136"/>
            <a:ext cx="8458200" cy="357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888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00200" y="2412999"/>
            <a:ext cx="8549029" cy="526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 b="1" spc="39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4. KẾT LUẬN VÀ HƯỚNG PHÁT TRIỂN</a:t>
            </a:r>
          </a:p>
        </p:txBody>
      </p:sp>
      <p:pic>
        <p:nvPicPr>
          <p:cNvPr id="1028" name="Picture 4" descr="Dịch vụ cho thuê xe tải chở hàng 6 mét - Dịch Vụ vận tả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2705100"/>
            <a:ext cx="7098391" cy="496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0240" y="571500"/>
            <a:ext cx="13094489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20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4. KẾT LUẬN VÀ HƯỚNG PHÁT TRIỂN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44268" y="1863725"/>
            <a:ext cx="3836104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15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4.1 Kết luận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74084" y="2688267"/>
            <a:ext cx="13518316" cy="18456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3999" spc="159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Xây dựng </a:t>
            </a:r>
            <a:r>
              <a:rPr lang="en-US" sz="3999" spc="159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hệ thống quản lý đào tạo toàn diện, tốt ưu quy trình từ tiếp nhận hồ sơ đến nhận bằng</a:t>
            </a:r>
            <a:endParaRPr lang="en-US" sz="3999" spc="159">
              <a:solidFill>
                <a:srgbClr val="32478C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44268" y="5219700"/>
            <a:ext cx="6108834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15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4.2 Hướng phát triển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35000" y="6359693"/>
            <a:ext cx="15481399" cy="1374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3599" lvl="1" indent="-431800">
              <a:lnSpc>
                <a:spcPts val="5599"/>
              </a:lnSpc>
              <a:buFont typeface="Arial"/>
              <a:buChar char="•"/>
            </a:pPr>
            <a:r>
              <a:rPr lang="en-US" sz="3999" spc="159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Tích hợp thanh toàn trực tuyến, thông báo tự động, phát triển thêm ứng dụng mobile.</a:t>
            </a:r>
            <a:endParaRPr lang="en-US" sz="3999" spc="159" dirty="0">
              <a:solidFill>
                <a:srgbClr val="32478C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3297" y="8068438"/>
            <a:ext cx="15144690" cy="656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3595" lvl="1" indent="-431797">
              <a:lnSpc>
                <a:spcPts val="5599"/>
              </a:lnSpc>
              <a:buFont typeface="Arial"/>
              <a:buChar char="•"/>
            </a:pPr>
            <a:r>
              <a:rPr lang="en-US" sz="3999" spc="159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Ứng dụng AI để phân tích tiến độ học tập cho sinh viên.</a:t>
            </a:r>
            <a:endParaRPr lang="en-US" sz="3999" spc="159" dirty="0">
              <a:solidFill>
                <a:srgbClr val="32478C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10042" y="2197688"/>
            <a:ext cx="13466361" cy="526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 b="1" spc="39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CẢM ƠN THẦY CÔ VÀ CÁC BẠN ĐÃ LẮNG NGHE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</TotalTime>
  <Words>512</Words>
  <Application>Microsoft Office PowerPoint</Application>
  <PresentationFormat>Custom</PresentationFormat>
  <Paragraphs>57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Calibri</vt:lpstr>
      <vt:lpstr>Public Sans Bold</vt:lpstr>
      <vt:lpstr>Calibri Light</vt:lpstr>
      <vt:lpstr>Arial</vt:lpstr>
      <vt:lpstr>Aptos</vt:lpstr>
      <vt:lpstr>Public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KHÓA LUẬN TỐT NGHIỆP-LTNX</dc:title>
  <dc:creator>CHAU THANH THIEN</dc:creator>
  <cp:lastModifiedBy>CHAU THANH THIEN</cp:lastModifiedBy>
  <cp:revision>35</cp:revision>
  <dcterms:created xsi:type="dcterms:W3CDTF">2006-08-16T00:00:00Z</dcterms:created>
  <dcterms:modified xsi:type="dcterms:W3CDTF">2026-07-04T17:06:47Z</dcterms:modified>
  <dc:identifier>DAGsNvIWXNA</dc:identifier>
</cp:coreProperties>
</file>